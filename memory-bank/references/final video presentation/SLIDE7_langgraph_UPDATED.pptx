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8090"/>
                </a:solidFill>
                <a:latin typeface="Calibri"/>
              </a:defRPr>
            </a:pPr>
            <a:r>
              <a:t>SECTION 3 · THE AI SOLUTION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2E33"/>
                </a:solidFill>
                <a:latin typeface="Calibri"/>
              </a:defRPr>
            </a:pPr>
            <a:r>
              <a:t>Architecture: index once, reason per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8090"/>
                </a:solidFill>
                <a:latin typeface="Calibri"/>
              </a:defRPr>
            </a:pPr>
            <a:r>
              <a:t>INDEX TIME —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8090"/>
                </a:solidFill>
                <a:latin typeface="Calibri"/>
              </a:defRPr>
            </a:pPr>
            <a:r>
              <a:t>QUERY TIME — compiled LangGraph (actual node IDs)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926080" cy="502920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1C2E33"/>
                </a:solidFill>
                <a:latin typeface="Calibri"/>
              </a:defRPr>
            </a:pPr>
            <a:r>
              <a:t>4 policy documents (Markdown)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926080" cy="502920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1C2E33"/>
                </a:solidFill>
                <a:latin typeface="Calibri"/>
              </a:defRPr>
            </a:pPr>
            <a:r>
              <a:t>Semantic chunking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2926080" cy="502920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1C2E33"/>
                </a:solidFill>
                <a:latin typeface="Calibri"/>
              </a:defRPr>
            </a:pPr>
            <a:r>
              <a:t>Embeddings — LiteLLM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2926080" cy="502920"/>
          </a:xfrm>
          <a:prstGeom prst="round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Qdrant vector store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7A80"/>
                </a:solidFill>
                <a:latin typeface="Calibri"/>
              </a:defRPr>
            </a:pPr>
            <a:r>
              <a:t>Queried by retrieve at query time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051560"/>
            <a:ext cx="18288" cy="4754880"/>
          </a:xfrm>
          <a:prstGeom prst="rect">
            <a:avLst/>
          </a:prstGeom>
          <a:solidFill>
            <a:srgbClr val="D5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371600"/>
            <a:ext cx="320040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C2E33"/>
                </a:solidFill>
                <a:latin typeface="Calibri"/>
              </a:defRPr>
            </a:pPr>
            <a:r>
              <a:t>receive_question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371600"/>
            <a:ext cx="320040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C2E33"/>
                </a:solidFill>
                <a:latin typeface="Calibri"/>
              </a:defRPr>
            </a:pPr>
            <a:r>
              <a:t>memory_consent_check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74519"/>
            <a:ext cx="320040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C2E33"/>
                </a:solidFill>
                <a:latin typeface="Calibri"/>
              </a:defRPr>
            </a:pPr>
            <a:r>
              <a:t>input_guards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874519"/>
            <a:ext cx="320040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1C2E33"/>
                </a:solidFill>
                <a:latin typeface="Calibri"/>
              </a:defRPr>
            </a:pPr>
            <a:r>
              <a:t>memory_read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377440"/>
            <a:ext cx="3108960" cy="384048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880360"/>
            <a:ext cx="2103120" cy="384048"/>
          </a:xfrm>
          <a:prstGeom prst="round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80360"/>
            <a:ext cx="2103120" cy="384048"/>
          </a:xfrm>
          <a:prstGeom prst="round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incident_tool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880360"/>
            <a:ext cx="2103120" cy="384048"/>
          </a:xfrm>
          <a:prstGeom prst="round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inventory_tool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383280"/>
            <a:ext cx="3200400" cy="384048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gather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383280"/>
            <a:ext cx="3200400" cy="384048"/>
          </a:xfrm>
          <a:prstGeom prst="round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external_content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886200"/>
            <a:ext cx="3200400" cy="384048"/>
          </a:xfrm>
          <a:prstGeom prst="round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05343B"/>
                </a:solidFill>
                <a:latin typeface="Calibri"/>
              </a:defRPr>
            </a:pPr>
            <a:r>
              <a:t>compose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886200"/>
            <a:ext cx="3200400" cy="384048"/>
          </a:xfrm>
          <a:prstGeom prst="roundRect">
            <a:avLst/>
          </a:prstGeom>
          <a:solidFill>
            <a:srgbClr val="5E7A80"/>
          </a:solidFill>
          <a:ln>
            <a:solidFill>
              <a:srgbClr val="5E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honest_fallback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389120"/>
            <a:ext cx="210312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1C2E33"/>
                </a:solidFill>
                <a:latin typeface="Calibri"/>
              </a:defRPr>
            </a:pPr>
            <a:r>
              <a:t>output_guards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89120"/>
            <a:ext cx="210312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1C2E33"/>
                </a:solidFill>
                <a:latin typeface="Calibri"/>
              </a:defRPr>
            </a:pPr>
            <a:r>
              <a:t>memory_propose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4389120"/>
            <a:ext cx="2103120" cy="384048"/>
          </a:xfrm>
          <a:prstGeom prst="roundRect">
            <a:avLst/>
          </a:prstGeom>
          <a:solidFill>
            <a:srgbClr val="E9F5F4"/>
          </a:solidFill>
          <a:ln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1C2E33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892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7A80"/>
                </a:solidFill>
                <a:latin typeface="Calibri"/>
              </a:defRPr>
            </a:pPr>
            <a:r>
              <a:t>input_guards block/redirect skips classify and tools → 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257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7A80"/>
                </a:solidFill>
                <a:latin typeface="Calibri"/>
              </a:defRPr>
            </a:pPr>
            <a:r>
              <a:t>Tools go through a company-tools MCP server (Keycloak OAuth). Incident lookups also forward the caller’s FastAPI JWT. Failures become explicit state — the graph never guesses.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2E33"/>
                </a:solidFill>
                <a:latin typeface="Calibri"/>
              </a:defRPr>
            </a:pPr>
            <a:r>
              <a:t>Flow: receive_question → memory_consent_check → input_guards → memory_read → classify → {retrieve | incident_tool | inventory_tool} → gather → external_content → compose | honest_fallback → output_guards → memory_propose → observability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