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(choose one from the guide) then: Hi, I'm Chitra. My background is in [X]. Over the 4Geeks AI Engineering program I built HealthCore Digital — a full internal platform for a 12-clinic healthcare network. Today I'm presenting its AI Knowledge Assistant: a retrieval-augmented, agentic support tool that automates how coordinators get answers about policy and live operations. TIP: consider opening cold on the app (Shot 2 recording) before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to ~25 seconds. One breath: name, background, project name, what was automated — the overview card at bottom-left is the one-line version if you want to say it verbatim. Do NOT list milestones; the numbers on the right carry that. Fill in your background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 has the problem: patient coordinators and front-desk staff across 12 clinics; indirectly, patients on hold and Patient Experience leadership. Script: policies lived in documents; live state lived in separate tools. A coordinator with a patient on the phone had to search both — or guess. Slow, inconsistent across clinics, and in healthcare inconsistency is a compliance problem, not just an annoyance.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value claims, ~15 s each: time, consistency-with-citations, compliance. Gesture at the hub screenshot: the assistant is one tool inside a real internal platform I built across the program — website, API, inventory, incidents, reporting.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s on this slide max — then cut to the live demo recording (Shots 2–6). Script: coordinators ask in plain English; the agent classifies the question, retrieves from the vector knowledge base and/or calls live tools, and composes a grounded, cited answer — or honestly says it doesn't know.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a map for the viewer; the real content is the screen recording. Money shot is the fan-out query — one question, two sources, run in parallel and composed. Point out the no-hallucination behaviour on the Mars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 s. Left: indexing — four policy docs, semantically chunked, embedded via the LiteLLM proxy, stored in local Qdrant. Right: the compiled graph — receive_question through memory_consent_check, input_guards, and memory_read; classify fans out to retrieve, incident_tool, and inventory_tool; gather then external_content; compose or honest_fallback; then output_guards, memory_propose, observability. Tools go through company-tools MCP (Keycloak); incident lookups also forward the caller FastAPI JWT.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2 of the 4 cards to say aloud; the slide carries the rest. Strongest line: my own knowledge base is an attack surface — retrieved text is wrapped as untrusted data so a malicious document can't smuggle instructions. Mention the guardrail metrics endpoint and injection test suite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read the columns. One line: the agent stack is LangGraph over a Qdrant RAG pipeline with MCP tools behind OAuth — but it sits on a real platform: FastAPI, Next.js, Redis, Celery, Prefect, all in Docker — and everything has an eval or a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it as a story, ~40 s. Alternatives in VIDEO_SCRIPT_GUIDE.md if this wasn't YOUR hardest problem: (B) prompt injection via retrieved content and untrusted wrapping, or (C) consent-gated memory with PHI screening. Pick the one you actually sweated 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~40 s. Alternative trade-offs in the guide: local Qdrant vs a managed vector DB (right-sized beats impressive), or reuse-over-rewrite as the main story. The pride point can also be the honest-evaluation story from the churn model — refusing to chase F1 = 0.9 and spotting the leakage that would have produced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 s per question. These MUST be personal — fill the brackets with your real story before recording. The vulnerability in 'what almost held me back' is what makes the answer memorable.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 s. Framework: acknowledge the fence, give your evidence, one concrete pointer. Be honest — a balanced answer ('it's intense, and here's what makes it worth it') lands better than an 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Hold this frame for the final 5–10 seconds. Optionally add your LinkedIn / GitHub URL before recording.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3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937760"/>
            <a:ext cx="2926080" cy="2926080"/>
          </a:xfrm>
          <a:prstGeom prst="ellipse">
            <a:avLst/>
          </a:prstGeom>
          <a:solidFill>
            <a:srgbClr val="02C39A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188720" y="5120640"/>
            <a:ext cx="3108960" cy="3108960"/>
          </a:xfrm>
          <a:prstGeom prst="ellipse">
            <a:avLst/>
          </a:prstGeom>
          <a:solidFill>
            <a:srgbClr val="00A896">
              <a:alpha val="1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960120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136" y="1131296"/>
            <a:ext cx="316017" cy="31601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600200" y="960120"/>
            <a:ext cx="658368" cy="65836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376" y="1131296"/>
            <a:ext cx="316017" cy="31601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196596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HealthCore Knowledge Assistant</a:t>
            </a:r>
            <a:endParaRPr lang="en-US" sz="4800" dirty="0"/>
          </a:p>
        </p:txBody>
      </p:sp>
      <p:sp>
        <p:nvSpPr>
          <p:cNvPr id="10" name="Text 6"/>
          <p:cNvSpPr/>
          <p:nvPr/>
        </p:nvSpPr>
        <p:spPr>
          <a:xfrm>
            <a:off x="822960" y="34290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grounded RAG + LangGraph agent that answers clinic policy and live-operations questions — safely.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822960" y="502920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Chitra Sharath Chandra</a:t>
            </a:r>
            <a:endParaRPr lang="en-US" sz="1700" dirty="0"/>
          </a:p>
          <a:p>
            <a:pPr indent="0" marL="0">
              <a:buNone/>
            </a:pPr>
            <a:r>
              <a:rPr lang="en-US" sz="1350" dirty="0">
                <a:solidFill>
                  <a:srgbClr val="8F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4Geeks Academy · AI Engineering — Final Project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INTRODUCTION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 am, and what got automated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035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background</a:t>
            </a:r>
            <a:endParaRPr lang="en-US" sz="1300" dirty="0"/>
          </a:p>
          <a:p>
            <a:pPr indent="0" marL="0">
              <a:spcAft>
                <a:spcPts val="1300"/>
              </a:spcAft>
              <a:buNone/>
            </a:pPr>
            <a:r>
              <a:rPr lang="en-US" sz="1400" i="1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Your 1–2 line background: previous role / field, what you were doing before 4Geeks ]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</a:t>
            </a:r>
            <a:endParaRPr lang="en-US" sz="1300" dirty="0"/>
          </a:p>
          <a:p>
            <a:pPr indent="0" marL="0">
              <a:spcAft>
                <a:spcPts val="1300"/>
              </a:spcAft>
              <a:buNone/>
            </a:pPr>
            <a:r>
              <a:rPr lang="en-US" sz="140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HealthCore — an outpatient healthcare network: 12 clinics across the US and UK, ~200 staff, same-day appointments, bilingual care.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automated</a:t>
            </a:r>
            <a:endParaRPr lang="en-US" sz="1300" dirty="0"/>
          </a:p>
          <a:p>
            <a:pPr indent="0" marL="0">
              <a:buNone/>
            </a:pPr>
            <a:r>
              <a:rPr lang="en-US" sz="140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patient coordinators answer policy and operational questions — from digging through documents and phoning colleagues, to asking one grounded AI assistant.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4526280"/>
            <a:ext cx="6035040" cy="1508760"/>
          </a:xfrm>
          <a:prstGeom prst="roundRect">
            <a:avLst>
              <a:gd name="adj" fmla="val 4242"/>
            </a:avLst>
          </a:prstGeom>
          <a:solidFill>
            <a:srgbClr val="E9F5F4"/>
          </a:solidFill>
          <a:ln/>
          <a:effectLst>
            <a:outerShdw sx="100000" sy="100000" kx="0" ky="0" algn="bl" rotWithShape="0" blurRad="76200" dist="25400" dir="5400000">
              <a:srgbClr val="9AB8B8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470916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overview</a:t>
            </a:r>
            <a:endParaRPr lang="en-US" sz="1300" dirty="0"/>
          </a:p>
          <a:p>
            <a:pPr indent="0" marL="0">
              <a:buNone/>
            </a:pPr>
            <a:r>
              <a:rPr lang="en-US" sz="1350" i="1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retrieval-augmented, agentic assistant that answers clinic policy and live-operations questions with cited sources — and refuses when it shouldn’t answer.”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040880" y="1463040"/>
            <a:ext cx="4572000" cy="1325880"/>
          </a:xfrm>
          <a:prstGeom prst="roundRect">
            <a:avLst>
              <a:gd name="adj" fmla="val 4828"/>
            </a:avLst>
          </a:prstGeom>
          <a:solidFill>
            <a:srgbClr val="F5FAFA"/>
          </a:solidFill>
          <a:ln/>
          <a:effectLst>
            <a:outerShdw sx="100000" sy="100000" kx="0" ky="0" algn="bl" rotWithShape="0" blurRad="76200" dist="25400" dir="5400000">
              <a:srgbClr val="9AB8B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269480" y="1554480"/>
            <a:ext cx="1371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686800" y="1600200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clinics · 2 countries served by one platform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040880" y="3017520"/>
            <a:ext cx="4572000" cy="1325880"/>
          </a:xfrm>
          <a:prstGeom prst="roundRect">
            <a:avLst>
              <a:gd name="adj" fmla="val 4828"/>
            </a:avLst>
          </a:prstGeom>
          <a:solidFill>
            <a:srgbClr val="F5FAFA"/>
          </a:solidFill>
          <a:ln/>
          <a:effectLst>
            <a:outerShdw sx="100000" sy="100000" kx="0" ky="0" algn="bl" rotWithShape="0" blurRad="76200" dist="25400" dir="5400000">
              <a:srgbClr val="9AB8B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269480" y="3108960"/>
            <a:ext cx="1371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686800" y="3154680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milestones built on one evolving company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040880" y="4572000"/>
            <a:ext cx="4572000" cy="1325880"/>
          </a:xfrm>
          <a:prstGeom prst="roundRect">
            <a:avLst>
              <a:gd name="adj" fmla="val 4828"/>
            </a:avLst>
          </a:prstGeom>
          <a:solidFill>
            <a:srgbClr val="F5FAFA"/>
          </a:solidFill>
          <a:ln/>
          <a:effectLst>
            <a:outerShdw sx="100000" sy="100000" kx="0" ky="0" algn="bl" rotWithShape="0" blurRad="76200" dist="25400" dir="5400000">
              <a:srgbClr val="9AB8B8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269480" y="4663440"/>
            <a:ext cx="1371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686800" y="4709160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automating coordinator Q&amp;A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PROBLEM &amp; OPPORTUNITY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 lived in two different worlds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2697480"/>
          </a:xfrm>
          <a:prstGeom prst="roundRect">
            <a:avLst>
              <a:gd name="adj" fmla="val 2373"/>
            </a:avLst>
          </a:prstGeom>
          <a:solidFill>
            <a:srgbClr val="E9F5F4"/>
          </a:solidFill>
          <a:ln/>
          <a:effectLst>
            <a:outerShdw sx="100000" sy="100000" kx="0" ky="0" algn="bl" rotWithShape="0" blurRad="76200" dist="25400" dir="5400000">
              <a:srgbClr val="9AB8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3736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0361" y="188476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2768" y="1719072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knowledge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468880"/>
            <a:ext cx="4800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Insurance, referrals, appointments, new-patient rules — buried in documents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varied by clinic: folklore instead of policy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lookup = minutes with a patient on hold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1463040"/>
            <a:ext cx="5440680" cy="2697480"/>
          </a:xfrm>
          <a:prstGeom prst="roundRect">
            <a:avLst>
              <a:gd name="adj" fmla="val 2373"/>
            </a:avLst>
          </a:prstGeom>
          <a:solidFill>
            <a:srgbClr val="E9F5F4"/>
          </a:solidFill>
          <a:ln/>
          <a:effectLst>
            <a:outerShdw sx="100000" sy="100000" kx="0" ky="0" algn="bl" rotWithShape="0" blurRad="76200" dist="25400" dir="5400000">
              <a:srgbClr val="9AB8B8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173736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9641" y="188476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42048" y="1719072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operations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37960" y="2468880"/>
            <a:ext cx="4800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status and supply stock lived in separate internal tools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incident 12 resolved? Do we have masks?” → app-hopping or asking around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place to ask an operational question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4572000"/>
            <a:ext cx="3611880" cy="1508760"/>
          </a:xfrm>
          <a:prstGeom prst="roundRect">
            <a:avLst>
              <a:gd name="adj" fmla="val 4242"/>
            </a:avLst>
          </a:prstGeom>
          <a:solidFill>
            <a:srgbClr val="F5FAFA"/>
          </a:solidFill>
          <a:ln/>
          <a:effectLst>
            <a:outerShdw sx="100000" sy="100000" kx="0" ky="0" algn="bl" rotWithShape="0" blurRad="76200" dist="25400" dir="5400000">
              <a:srgbClr val="9AB8B8">
                <a:alpha val="35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777240" y="47091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 min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777240" y="53035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unstructured front-desk call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370832" y="4572000"/>
            <a:ext cx="3611880" cy="1508760"/>
          </a:xfrm>
          <a:prstGeom prst="roundRect">
            <a:avLst>
              <a:gd name="adj" fmla="val 4242"/>
            </a:avLst>
          </a:prstGeom>
          <a:solidFill>
            <a:srgbClr val="F5FAFA"/>
          </a:solidFill>
          <a:ln/>
          <a:effectLst>
            <a:outerShdw sx="100000" sy="100000" kx="0" ky="0" algn="bl" rotWithShape="0" blurRad="76200" dist="25400" dir="5400000">
              <a:srgbClr val="9AB8B8">
                <a:alpha val="35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4599432" y="47091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clinics</a:t>
            </a:r>
            <a:endParaRPr lang="en-US" sz="2600" dirty="0"/>
          </a:p>
        </p:txBody>
      </p:sp>
      <p:sp>
        <p:nvSpPr>
          <p:cNvPr id="19" name="Text 15"/>
          <p:cNvSpPr/>
          <p:nvPr/>
        </p:nvSpPr>
        <p:spPr>
          <a:xfrm>
            <a:off x="4599432" y="53035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+ UK — two regulatory regimes (HIPAA / UK GDPR)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8193024" y="4572000"/>
            <a:ext cx="3611880" cy="1508760"/>
          </a:xfrm>
          <a:prstGeom prst="roundRect">
            <a:avLst>
              <a:gd name="adj" fmla="val 4242"/>
            </a:avLst>
          </a:prstGeom>
          <a:solidFill>
            <a:srgbClr val="F5FAFA"/>
          </a:solidFill>
          <a:ln/>
          <a:effectLst>
            <a:outerShdw sx="100000" sy="100000" kx="0" ky="0" algn="bl" rotWithShape="0" blurRad="76200" dist="25400" dir="5400000">
              <a:srgbClr val="9AB8B8">
                <a:alpha val="35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8421624" y="47091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22" name="Text 18"/>
          <p:cNvSpPr/>
          <p:nvPr/>
        </p:nvSpPr>
        <p:spPr>
          <a:xfrm>
            <a:off x="8421624" y="53035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shared, trusted sources of truth for staff questions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PROBLEM &amp; OPPORTUNITY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solving it is worth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126480" cy="1371600"/>
          </a:xfrm>
          <a:prstGeom prst="roundRect">
            <a:avLst>
              <a:gd name="adj" fmla="val 4667"/>
            </a:avLst>
          </a:prstGeom>
          <a:solidFill>
            <a:srgbClr val="E9F5F4"/>
          </a:solidFill>
          <a:ln/>
          <a:effectLst>
            <a:outerShdw sx="100000" sy="100000" kx="0" ky="0" algn="bl" rotWithShape="0" blurRad="76200" dist="25400" dir="5400000">
              <a:srgbClr val="9AB8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83664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4626" y="2045330"/>
            <a:ext cx="298460" cy="298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65506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back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645920" y="2075688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 instead of minutes per question; less phone-tag between clinics and departments.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044952"/>
            <a:ext cx="6126480" cy="1371600"/>
          </a:xfrm>
          <a:prstGeom prst="roundRect">
            <a:avLst>
              <a:gd name="adj" fmla="val 4667"/>
            </a:avLst>
          </a:prstGeom>
          <a:solidFill>
            <a:srgbClr val="F5FAFA"/>
          </a:solidFill>
          <a:ln/>
          <a:effectLst>
            <a:outerShdw sx="100000" sy="100000" kx="0" ky="0" algn="bl" rotWithShape="0" blurRad="76200" dist="25400" dir="5400000">
              <a:srgbClr val="9AB8B8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3419856"/>
            <a:ext cx="621792" cy="621792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626" y="3581522"/>
            <a:ext cx="298460" cy="298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45920" y="319125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 you can cite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1645920" y="3611880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grounded in official policy documents, with sources shown — the same answer at every clinic.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581144"/>
            <a:ext cx="6126480" cy="1371600"/>
          </a:xfrm>
          <a:prstGeom prst="roundRect">
            <a:avLst>
              <a:gd name="adj" fmla="val 4667"/>
            </a:avLst>
          </a:prstGeom>
          <a:solidFill>
            <a:srgbClr val="E9F5F4"/>
          </a:solidFill>
          <a:ln/>
          <a:effectLst>
            <a:outerShdw sx="100000" sy="100000" kx="0" ky="0" algn="bl" rotWithShape="0" blurRad="76200" dist="25400" dir="5400000">
              <a:srgbClr val="9AB8B8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956048"/>
            <a:ext cx="621792" cy="62179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626" y="5117714"/>
            <a:ext cx="298460" cy="298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72744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as a feature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1645920" y="5148072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generic chatbot is a HIPAA / UK-GDPR incident waiting to happen. A guarded, purpose-built one turns risk into an asset.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949440" y="1508760"/>
            <a:ext cx="4663440" cy="4443984"/>
          </a:xfrm>
          <a:prstGeom prst="roundRect">
            <a:avLst>
              <a:gd name="adj" fmla="val 1646"/>
            </a:avLst>
          </a:prstGeom>
          <a:solidFill>
            <a:srgbClr val="E9F5F4"/>
          </a:solidFill>
          <a:ln w="19050">
            <a:solidFill>
              <a:srgbClr val="028090"/>
            </a:solidFill>
            <a:prstDash val="dash"/>
          </a:ln>
        </p:spPr>
      </p:sp>
      <p:sp>
        <p:nvSpPr>
          <p:cNvPr id="20" name="Text 15"/>
          <p:cNvSpPr/>
          <p:nvPr/>
        </p:nvSpPr>
        <p:spPr>
          <a:xfrm>
            <a:off x="7178040" y="1508760"/>
            <a:ext cx="4206240" cy="444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 1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Backoffice hub — the platform the assistant lives in (localhost:3001)</a:t>
            </a:r>
            <a:endParaRPr lang="en-US" sz="150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screenshot — see SHOT_LIST.md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THE AI SOLUTION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anything. Get a grounded, cited answer.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394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300" dirty="0"/>
          </a:p>
          <a:p>
            <a:pPr indent="0" marL="0">
              <a:spcAft>
                <a:spcPts val="1300"/>
              </a:spcAft>
              <a:buNone/>
            </a:pPr>
            <a:r>
              <a:rPr lang="en-US" sz="135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JWT-protected assistant at /knowledge in the backoffice. Coordinators ask in plain English; a LangGraph agent decides how to answer.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from the policy knowledge base — with sources cited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live incident &amp; inventory APIs when the question needs them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both in a single composed answer</a:t>
            </a:r>
            <a:endParaRPr lang="en-US" sz="1300" dirty="0"/>
          </a:p>
          <a:p>
            <a:pPr marL="152400" indent="-152400"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“I don’t have information about that” — and mean it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loop</a:t>
            </a:r>
            <a:endParaRPr lang="en-US" sz="1300" dirty="0"/>
          </a:p>
          <a:p>
            <a:pPr indent="0" marL="0">
              <a:buNone/>
            </a:pPr>
            <a:r>
              <a:rPr lang="en-US" sz="135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Thumbs feedback → JSONL log; eval suite; LangSmith traces of every run.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4434840"/>
            <a:ext cx="5394960" cy="1600200"/>
          </a:xfrm>
          <a:prstGeom prst="roundRect">
            <a:avLst>
              <a:gd name="adj" fmla="val 4000"/>
            </a:avLst>
          </a:prstGeom>
          <a:solidFill>
            <a:srgbClr val="E9F5F4"/>
          </a:solidFill>
          <a:ln/>
          <a:effectLst>
            <a:outerShdw sx="100000" sy="100000" kx="0" ky="0" algn="bl" rotWithShape="0" blurRad="76200" dist="25400" dir="5400000">
              <a:srgbClr val="9AB8B8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461772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C2E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/api/v1/agent/query  →  { answer, sources, sources_used, trace_id }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JWT required. The original /knowledge/query endpoint was left untouched when the agent shipped.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463040"/>
            <a:ext cx="5303520" cy="4572000"/>
          </a:xfrm>
          <a:prstGeom prst="roundRect">
            <a:avLst>
              <a:gd name="adj" fmla="val 1600"/>
            </a:avLst>
          </a:prstGeom>
          <a:solidFill>
            <a:srgbClr val="E9F5F4"/>
          </a:solidFill>
          <a:ln w="19050">
            <a:solidFill>
              <a:srgbClr val="02809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537960" y="1463040"/>
            <a:ext cx="484632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 2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/knowledge — “Is Medicaid accepted at Georgia clinics?” grounded answer + insurance-coverage source</a:t>
            </a:r>
            <a:endParaRPr lang="en-US" sz="150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screenshot — see SHOT_LIST.md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THE AI SOLUTION — DEMO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questions, four paths through the agent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1874520"/>
          </a:xfrm>
          <a:prstGeom prst="roundRect">
            <a:avLst>
              <a:gd name="adj" fmla="val 3415"/>
            </a:avLst>
          </a:prstGeom>
          <a:solidFill>
            <a:srgbClr val="E9F5F4"/>
          </a:solidFill>
          <a:ln/>
          <a:effectLst>
            <a:outerShdw sx="100000" sy="100000" kx="0" ky="0" algn="bl" rotWithShape="0" blurRad="76200" dist="25400" dir="5400000">
              <a:srgbClr val="9AB8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8308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0361" y="193048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2768" y="1764792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“Is Medicaid accepted at Georgia clinics?”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663440" y="17830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 2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22960" y="2496312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path — retrieved from the policy knowledge base, source cited.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17920" y="1508760"/>
            <a:ext cx="5440680" cy="1874520"/>
          </a:xfrm>
          <a:prstGeom prst="roundRect">
            <a:avLst>
              <a:gd name="adj" fmla="val 3415"/>
            </a:avLst>
          </a:prstGeom>
          <a:solidFill>
            <a:srgbClr val="F5FAFA"/>
          </a:solidFill>
          <a:ln/>
          <a:effectLst>
            <a:outerShdw sx="100000" sy="100000" kx="0" ky="0" algn="bl" rotWithShape="0" blurRad="76200" dist="25400" dir="5400000">
              <a:srgbClr val="9AB8B8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178308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9641" y="1930481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42048" y="1764792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 is the status of incident 1?”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10332720" y="17830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 3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492240" y="2496312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tool path — real API call with the caller’s JWT forwarded.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3657600"/>
            <a:ext cx="5440680" cy="1874520"/>
          </a:xfrm>
          <a:prstGeom prst="roundRect">
            <a:avLst>
              <a:gd name="adj" fmla="val 3415"/>
            </a:avLst>
          </a:prstGeom>
          <a:solidFill>
            <a:srgbClr val="E9F5F4"/>
          </a:solidFill>
          <a:ln/>
          <a:effectLst>
            <a:outerShdw sx="100000" sy="100000" kx="0" ky="0" algn="bl" rotWithShape="0" blurRad="76200" dist="25400" dir="5400000">
              <a:srgbClr val="9AB8B8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" y="393192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361" y="4079321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72768" y="3913632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“What’s our mask policy — and do we have any in stock?”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4663440" y="39319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 4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822960" y="4645152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Fan-out — RAG + inventory tool in parallel, composed into one answer.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217920" y="3657600"/>
            <a:ext cx="5440680" cy="1874520"/>
          </a:xfrm>
          <a:prstGeom prst="roundRect">
            <a:avLst>
              <a:gd name="adj" fmla="val 3415"/>
            </a:avLst>
          </a:prstGeom>
          <a:solidFill>
            <a:srgbClr val="F5FAFA"/>
          </a:solidFill>
          <a:ln/>
          <a:effectLst>
            <a:outerShdw sx="100000" sy="100000" kx="0" ky="0" algn="bl" rotWithShape="0" blurRad="76200" dist="25400" dir="5400000">
              <a:srgbClr val="9AB8B8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92240" y="3931920"/>
            <a:ext cx="566928" cy="566928"/>
          </a:xfrm>
          <a:prstGeom prst="ellipse">
            <a:avLst/>
          </a:prstGeom>
          <a:solidFill>
            <a:srgbClr val="5E7A8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9641" y="4079321"/>
            <a:ext cx="272125" cy="27212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242048" y="3913632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 is the capital of Mars?”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10332720" y="39319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 5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6492240" y="4645152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fallback — empty retrieval → “I don’t have information about that.”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548640" y="580644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these four queries live in /knowledge — talk over the recording, not this slide.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THE AI SOLUTION — HOW IT WORKS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index once, reason per question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TIME — RAG pipeline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1737360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E9F5F4"/>
          </a:solidFill>
          <a:ln w="12700">
            <a:solidFill>
              <a:srgbClr val="E9F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373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policy documents (Markdown)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194560" y="2286000"/>
            <a:ext cx="0" cy="365760"/>
          </a:xfrm>
          <a:prstGeom prst="line">
            <a:avLst/>
          </a:prstGeom>
          <a:noFill/>
          <a:ln w="22225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85800" y="2651760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E9F5F4"/>
          </a:solidFill>
          <a:ln w="12700">
            <a:solidFill>
              <a:srgbClr val="E9F5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6517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chunking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194560" y="3200400"/>
            <a:ext cx="0" cy="365760"/>
          </a:xfrm>
          <a:prstGeom prst="line">
            <a:avLst/>
          </a:prstGeom>
          <a:noFill/>
          <a:ln w="22225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85800" y="3566160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E9F5F4"/>
          </a:solidFill>
          <a:ln w="12700">
            <a:solidFill>
              <a:srgbClr val="E9F5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5661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— LiteLLM proxy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194560" y="4114800"/>
            <a:ext cx="0" cy="365760"/>
          </a:xfrm>
          <a:prstGeom prst="line">
            <a:avLst/>
          </a:prstGeom>
          <a:noFill/>
          <a:ln w="22225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85800" y="4480560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480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vector store (local)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85800" y="5166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Queried by the retrieve node at query time  →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60520" y="1417320"/>
            <a:ext cx="0" cy="4572000"/>
          </a:xfrm>
          <a:prstGeom prst="line">
            <a:avLst/>
          </a:prstGeom>
          <a:noFill/>
          <a:ln w="15875">
            <a:solidFill>
              <a:srgbClr val="D5E8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13258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TIME — compiled LangGraph</a:t>
            </a:r>
            <a:endParaRPr lang="en-US" sz="1150" dirty="0"/>
          </a:p>
        </p:txBody>
      </p:sp>
      <p:sp>
        <p:nvSpPr>
          <p:cNvPr id="101" name="Box 101"/>
          <p:cNvSpPr/>
          <p:nvPr/>
        </p:nvSpPr>
        <p:spPr>
          <a:xfrm>
            <a:off x="4526280" y="1700784"/>
            <a:ext cx="3369564" cy="365760"/>
          </a:xfrm>
          <a:prstGeom prst="roundRect">
            <a:avLst>
              <a:gd name="adj" fmla="val 10000"/>
            </a:avLst>
          </a:prstGeom>
          <a:solidFill>
            <a:srgbClr val="E9F5F4"/>
          </a:solidFill>
          <a:ln w="12700">
            <a:solidFill>
              <a:srgbClr val="E9F5F4"/>
            </a:solidFill>
            <a:prstDash val="solid"/>
          </a:ln>
        </p:spPr>
      </p:sp>
      <p:sp>
        <p:nvSpPr>
          <p:cNvPr id="102" name="Lbl 102"/>
          <p:cNvSpPr/>
          <p:nvPr/>
        </p:nvSpPr>
        <p:spPr>
          <a:xfrm>
            <a:off x="4526280" y="1700784"/>
            <a:ext cx="3369564" cy="36576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receive_question</a:t>
            </a:r>
            <a:endParaRPr lang="en-US" sz="950" dirty="0"/>
          </a:p>
        </p:txBody>
      </p:sp>
      <p:sp>
        <p:nvSpPr>
          <p:cNvPr id="103" name="Box 103"/>
          <p:cNvSpPr/>
          <p:nvPr/>
        </p:nvSpPr>
        <p:spPr>
          <a:xfrm>
            <a:off x="8060436" y="1700784"/>
            <a:ext cx="3369564" cy="365760"/>
          </a:xfrm>
          <a:prstGeom prst="roundRect">
            <a:avLst>
              <a:gd name="adj" fmla="val 10000"/>
            </a:avLst>
          </a:prstGeom>
          <a:solidFill>
            <a:srgbClr val="E9F5F4"/>
          </a:solidFill>
          <a:ln w="12700">
            <a:solidFill>
              <a:srgbClr val="E9F5F4"/>
            </a:solidFill>
            <a:prstDash val="solid"/>
          </a:ln>
        </p:spPr>
      </p:sp>
      <p:sp>
        <p:nvSpPr>
          <p:cNvPr id="104" name="Lbl 104"/>
          <p:cNvSpPr/>
          <p:nvPr/>
        </p:nvSpPr>
        <p:spPr>
          <a:xfrm>
            <a:off x="8060436" y="1700784"/>
            <a:ext cx="3369564" cy="36576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memory_consent_check</a:t>
            </a:r>
            <a:endParaRPr lang="en-US" sz="950" dirty="0"/>
          </a:p>
        </p:txBody>
      </p:sp>
      <p:sp>
        <p:nvSpPr>
          <p:cNvPr id="105" name="Ln 105"/>
          <p:cNvSpPr/>
          <p:nvPr/>
        </p:nvSpPr>
        <p:spPr>
          <a:xfrm>
            <a:off x="7895844" y="1883664"/>
            <a:ext cx="164592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06" name="Box 106"/>
          <p:cNvSpPr/>
          <p:nvPr/>
        </p:nvSpPr>
        <p:spPr>
          <a:xfrm>
            <a:off x="4526280" y="2176272"/>
            <a:ext cx="3369564" cy="365760"/>
          </a:xfrm>
          <a:prstGeom prst="roundRect">
            <a:avLst>
              <a:gd name="adj" fmla="val 10000"/>
            </a:avLst>
          </a:prstGeom>
          <a:solidFill>
            <a:srgbClr val="E9F5F4"/>
          </a:solidFill>
          <a:ln w="12700">
            <a:solidFill>
              <a:srgbClr val="E9F5F4"/>
            </a:solidFill>
            <a:prstDash val="solid"/>
          </a:ln>
        </p:spPr>
      </p:sp>
      <p:sp>
        <p:nvSpPr>
          <p:cNvPr id="107" name="Lbl 107"/>
          <p:cNvSpPr/>
          <p:nvPr/>
        </p:nvSpPr>
        <p:spPr>
          <a:xfrm>
            <a:off x="4526280" y="2176272"/>
            <a:ext cx="3369564" cy="36576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input_guards</a:t>
            </a:r>
            <a:endParaRPr lang="en-US" sz="950" dirty="0"/>
          </a:p>
        </p:txBody>
      </p:sp>
      <p:sp>
        <p:nvSpPr>
          <p:cNvPr id="108" name="Box 108"/>
          <p:cNvSpPr/>
          <p:nvPr/>
        </p:nvSpPr>
        <p:spPr>
          <a:xfrm>
            <a:off x="8060436" y="2176272"/>
            <a:ext cx="3369564" cy="365760"/>
          </a:xfrm>
          <a:prstGeom prst="roundRect">
            <a:avLst>
              <a:gd name="adj" fmla="val 10000"/>
            </a:avLst>
          </a:prstGeom>
          <a:solidFill>
            <a:srgbClr val="E9F5F4"/>
          </a:solidFill>
          <a:ln w="12700">
            <a:solidFill>
              <a:srgbClr val="E9F5F4"/>
            </a:solidFill>
            <a:prstDash val="solid"/>
          </a:ln>
        </p:spPr>
      </p:sp>
      <p:sp>
        <p:nvSpPr>
          <p:cNvPr id="109" name="Lbl 109"/>
          <p:cNvSpPr/>
          <p:nvPr/>
        </p:nvSpPr>
        <p:spPr>
          <a:xfrm>
            <a:off x="8060436" y="2176272"/>
            <a:ext cx="3369564" cy="36576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memory_read</a:t>
            </a:r>
            <a:endParaRPr lang="en-US" sz="950" dirty="0"/>
          </a:p>
        </p:txBody>
      </p:sp>
      <p:sp>
        <p:nvSpPr>
          <p:cNvPr id="110" name="Ln 110"/>
          <p:cNvSpPr/>
          <p:nvPr/>
        </p:nvSpPr>
        <p:spPr>
          <a:xfrm>
            <a:off x="7895844" y="2359152"/>
            <a:ext cx="164592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11" name="Ln 111"/>
          <p:cNvSpPr/>
          <p:nvPr/>
        </p:nvSpPr>
        <p:spPr>
          <a:xfrm flipH="1">
            <a:off x="6211062" y="2066544"/>
            <a:ext cx="3534156" cy="109728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12" name="Box 112"/>
          <p:cNvSpPr/>
          <p:nvPr/>
        </p:nvSpPr>
        <p:spPr>
          <a:xfrm>
            <a:off x="6743700" y="2651760"/>
            <a:ext cx="2468880" cy="365760"/>
          </a:xfrm>
          <a:prstGeom prst="roundRect">
            <a:avLst>
              <a:gd name="adj" fmla="val 10000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3" name="Lbl 113"/>
          <p:cNvSpPr/>
          <p:nvPr/>
        </p:nvSpPr>
        <p:spPr>
          <a:xfrm>
            <a:off x="6743700" y="2651760"/>
            <a:ext cx="2468880" cy="36576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100" dirty="0"/>
          </a:p>
        </p:txBody>
      </p:sp>
      <p:sp>
        <p:nvSpPr>
          <p:cNvPr id="114" name="Ln 114"/>
          <p:cNvSpPr/>
          <p:nvPr/>
        </p:nvSpPr>
        <p:spPr>
          <a:xfrm flipH="1">
            <a:off x="7978140" y="2542032"/>
            <a:ext cx="1767078" cy="109728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15" name="Box 115"/>
          <p:cNvSpPr/>
          <p:nvPr/>
        </p:nvSpPr>
        <p:spPr>
          <a:xfrm>
            <a:off x="4526280" y="3145536"/>
            <a:ext cx="2215896" cy="36576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6" name="Lbl 116"/>
          <p:cNvSpPr/>
          <p:nvPr/>
        </p:nvSpPr>
        <p:spPr>
          <a:xfrm>
            <a:off x="4526280" y="3145536"/>
            <a:ext cx="2215896" cy="36576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950" dirty="0"/>
          </a:p>
        </p:txBody>
      </p:sp>
      <p:sp>
        <p:nvSpPr>
          <p:cNvPr id="117" name="Box 117"/>
          <p:cNvSpPr/>
          <p:nvPr/>
        </p:nvSpPr>
        <p:spPr>
          <a:xfrm>
            <a:off x="6870192" y="3145536"/>
            <a:ext cx="2215896" cy="36576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8" name="Lbl 118"/>
          <p:cNvSpPr/>
          <p:nvPr/>
        </p:nvSpPr>
        <p:spPr>
          <a:xfrm>
            <a:off x="6870192" y="3145536"/>
            <a:ext cx="2215896" cy="36576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incident_tool</a:t>
            </a:r>
            <a:endParaRPr lang="en-US" sz="950" dirty="0"/>
          </a:p>
        </p:txBody>
      </p:sp>
      <p:sp>
        <p:nvSpPr>
          <p:cNvPr id="119" name="Box 119"/>
          <p:cNvSpPr/>
          <p:nvPr/>
        </p:nvSpPr>
        <p:spPr>
          <a:xfrm>
            <a:off x="9214104" y="3145536"/>
            <a:ext cx="2215896" cy="36576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0" name="Lbl 120"/>
          <p:cNvSpPr/>
          <p:nvPr/>
        </p:nvSpPr>
        <p:spPr>
          <a:xfrm>
            <a:off x="9214104" y="3145536"/>
            <a:ext cx="2215896" cy="36576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inventory_tool</a:t>
            </a:r>
            <a:endParaRPr lang="en-US" sz="950" dirty="0"/>
          </a:p>
        </p:txBody>
      </p:sp>
      <p:sp>
        <p:nvSpPr>
          <p:cNvPr id="121" name="Ln 121"/>
          <p:cNvSpPr/>
          <p:nvPr/>
        </p:nvSpPr>
        <p:spPr>
          <a:xfrm flipH="1">
            <a:off x="5634228" y="3017520"/>
            <a:ext cx="2343912" cy="128016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22" name="Ln 122"/>
          <p:cNvSpPr/>
          <p:nvPr/>
        </p:nvSpPr>
        <p:spPr>
          <a:xfrm>
            <a:off x="7978140" y="3017520"/>
            <a:ext cx="0" cy="128016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23" name="Ln 123"/>
          <p:cNvSpPr/>
          <p:nvPr/>
        </p:nvSpPr>
        <p:spPr>
          <a:xfrm>
            <a:off x="7978140" y="3017520"/>
            <a:ext cx="2343912" cy="128016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24" name="Box 124"/>
          <p:cNvSpPr/>
          <p:nvPr/>
        </p:nvSpPr>
        <p:spPr>
          <a:xfrm>
            <a:off x="4526280" y="3639312"/>
            <a:ext cx="3369564" cy="365760"/>
          </a:xfrm>
          <a:prstGeom prst="roundRect">
            <a:avLst>
              <a:gd name="adj" fmla="val 10000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5" name="Lbl 125"/>
          <p:cNvSpPr/>
          <p:nvPr/>
        </p:nvSpPr>
        <p:spPr>
          <a:xfrm>
            <a:off x="4526280" y="3639312"/>
            <a:ext cx="3369564" cy="36576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</a:t>
            </a:r>
            <a:endParaRPr lang="en-US" sz="1000" dirty="0"/>
          </a:p>
        </p:txBody>
      </p:sp>
      <p:sp>
        <p:nvSpPr>
          <p:cNvPr id="126" name="Box 126"/>
          <p:cNvSpPr/>
          <p:nvPr/>
        </p:nvSpPr>
        <p:spPr>
          <a:xfrm>
            <a:off x="8060436" y="3639312"/>
            <a:ext cx="3369564" cy="36576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7" name="Lbl 127"/>
          <p:cNvSpPr/>
          <p:nvPr/>
        </p:nvSpPr>
        <p:spPr>
          <a:xfrm>
            <a:off x="8060436" y="3639312"/>
            <a:ext cx="3369564" cy="36576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external_content</a:t>
            </a:r>
            <a:endParaRPr lang="en-US" sz="1000" dirty="0"/>
          </a:p>
        </p:txBody>
      </p:sp>
      <p:sp>
        <p:nvSpPr>
          <p:cNvPr id="128" name="Ln 128"/>
          <p:cNvSpPr/>
          <p:nvPr/>
        </p:nvSpPr>
        <p:spPr>
          <a:xfrm>
            <a:off x="7895844" y="3822192"/>
            <a:ext cx="164592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29" name="Ln 129"/>
          <p:cNvSpPr/>
          <p:nvPr/>
        </p:nvSpPr>
        <p:spPr>
          <a:xfrm>
            <a:off x="5634228" y="3511296"/>
            <a:ext cx="576834" cy="128016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30" name="Ln 130"/>
          <p:cNvSpPr/>
          <p:nvPr/>
        </p:nvSpPr>
        <p:spPr>
          <a:xfrm flipH="1">
            <a:off x="6211062" y="3511296"/>
            <a:ext cx="1767078" cy="128016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31" name="Ln 131"/>
          <p:cNvSpPr/>
          <p:nvPr/>
        </p:nvSpPr>
        <p:spPr>
          <a:xfrm flipH="1">
            <a:off x="6211062" y="3511296"/>
            <a:ext cx="4110990" cy="128016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32" name="Box 132"/>
          <p:cNvSpPr/>
          <p:nvPr/>
        </p:nvSpPr>
        <p:spPr>
          <a:xfrm>
            <a:off x="4526280" y="4133088"/>
            <a:ext cx="3369564" cy="365760"/>
          </a:xfrm>
          <a:prstGeom prst="roundRect">
            <a:avLst>
              <a:gd name="adj" fmla="val 100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3" name="Lbl 133"/>
          <p:cNvSpPr/>
          <p:nvPr/>
        </p:nvSpPr>
        <p:spPr>
          <a:xfrm>
            <a:off x="4526280" y="4133088"/>
            <a:ext cx="3369564" cy="36576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</a:t>
            </a:r>
            <a:endParaRPr lang="en-US" sz="1000" dirty="0"/>
          </a:p>
        </p:txBody>
      </p:sp>
      <p:sp>
        <p:nvSpPr>
          <p:cNvPr id="134" name="Box 134"/>
          <p:cNvSpPr/>
          <p:nvPr/>
        </p:nvSpPr>
        <p:spPr>
          <a:xfrm>
            <a:off x="8060436" y="4133088"/>
            <a:ext cx="3369564" cy="365760"/>
          </a:xfrm>
          <a:prstGeom prst="roundRect">
            <a:avLst>
              <a:gd name="adj" fmla="val 10000"/>
            </a:avLst>
          </a:prstGeom>
          <a:solidFill>
            <a:srgbClr val="5E7A80"/>
          </a:solidFill>
          <a:ln w="12700">
            <a:solidFill>
              <a:srgbClr val="5E7A80"/>
            </a:solidFill>
            <a:prstDash val="solid"/>
          </a:ln>
        </p:spPr>
      </p:sp>
      <p:sp>
        <p:nvSpPr>
          <p:cNvPr id="135" name="Lbl 135"/>
          <p:cNvSpPr/>
          <p:nvPr/>
        </p:nvSpPr>
        <p:spPr>
          <a:xfrm>
            <a:off x="8060436" y="4133088"/>
            <a:ext cx="3369564" cy="36576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honest_fallback</a:t>
            </a:r>
            <a:endParaRPr lang="en-US" sz="1000" dirty="0"/>
          </a:p>
        </p:txBody>
      </p:sp>
      <p:sp>
        <p:nvSpPr>
          <p:cNvPr id="136" name="Ln 136"/>
          <p:cNvSpPr/>
          <p:nvPr/>
        </p:nvSpPr>
        <p:spPr>
          <a:xfrm>
            <a:off x="7895844" y="4315968"/>
            <a:ext cx="164592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37" name="Ln 137"/>
          <p:cNvSpPr/>
          <p:nvPr/>
        </p:nvSpPr>
        <p:spPr>
          <a:xfrm flipH="1">
            <a:off x="6211062" y="4005072"/>
            <a:ext cx="3534156" cy="128016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38" name="Ln 138"/>
          <p:cNvSpPr/>
          <p:nvPr/>
        </p:nvSpPr>
        <p:spPr>
          <a:xfrm>
            <a:off x="9745218" y="4005072"/>
            <a:ext cx="0" cy="128016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39" name="Box 139"/>
          <p:cNvSpPr/>
          <p:nvPr/>
        </p:nvSpPr>
        <p:spPr>
          <a:xfrm>
            <a:off x="4526280" y="4626864"/>
            <a:ext cx="2215896" cy="365760"/>
          </a:xfrm>
          <a:prstGeom prst="roundRect">
            <a:avLst>
              <a:gd name="adj" fmla="val 10000"/>
            </a:avLst>
          </a:prstGeom>
          <a:solidFill>
            <a:srgbClr val="E9F5F4"/>
          </a:solidFill>
          <a:ln w="12700">
            <a:solidFill>
              <a:srgbClr val="E9F5F4"/>
            </a:solidFill>
            <a:prstDash val="solid"/>
          </a:ln>
        </p:spPr>
      </p:sp>
      <p:sp>
        <p:nvSpPr>
          <p:cNvPr id="140" name="Lbl 140"/>
          <p:cNvSpPr/>
          <p:nvPr/>
        </p:nvSpPr>
        <p:spPr>
          <a:xfrm>
            <a:off x="4526280" y="4626864"/>
            <a:ext cx="2215896" cy="36576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output_guards</a:t>
            </a:r>
            <a:endParaRPr lang="en-US" sz="850" dirty="0"/>
          </a:p>
        </p:txBody>
      </p:sp>
      <p:sp>
        <p:nvSpPr>
          <p:cNvPr id="141" name="Box 141"/>
          <p:cNvSpPr/>
          <p:nvPr/>
        </p:nvSpPr>
        <p:spPr>
          <a:xfrm>
            <a:off x="6870192" y="4626864"/>
            <a:ext cx="2215896" cy="365760"/>
          </a:xfrm>
          <a:prstGeom prst="roundRect">
            <a:avLst>
              <a:gd name="adj" fmla="val 10000"/>
            </a:avLst>
          </a:prstGeom>
          <a:solidFill>
            <a:srgbClr val="E9F5F4"/>
          </a:solidFill>
          <a:ln w="12700">
            <a:solidFill>
              <a:srgbClr val="E9F5F4"/>
            </a:solidFill>
            <a:prstDash val="solid"/>
          </a:ln>
        </p:spPr>
      </p:sp>
      <p:sp>
        <p:nvSpPr>
          <p:cNvPr id="142" name="Lbl 142"/>
          <p:cNvSpPr/>
          <p:nvPr/>
        </p:nvSpPr>
        <p:spPr>
          <a:xfrm>
            <a:off x="6870192" y="4626864"/>
            <a:ext cx="2215896" cy="36576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memory_propose</a:t>
            </a:r>
            <a:endParaRPr lang="en-US" sz="850" dirty="0"/>
          </a:p>
        </p:txBody>
      </p:sp>
      <p:sp>
        <p:nvSpPr>
          <p:cNvPr id="143" name="Box 143"/>
          <p:cNvSpPr/>
          <p:nvPr/>
        </p:nvSpPr>
        <p:spPr>
          <a:xfrm>
            <a:off x="9214104" y="4626864"/>
            <a:ext cx="2215896" cy="365760"/>
          </a:xfrm>
          <a:prstGeom prst="roundRect">
            <a:avLst>
              <a:gd name="adj" fmla="val 10000"/>
            </a:avLst>
          </a:prstGeom>
          <a:solidFill>
            <a:srgbClr val="E9F5F4"/>
          </a:solidFill>
          <a:ln w="12700">
            <a:solidFill>
              <a:srgbClr val="E9F5F4"/>
            </a:solidFill>
            <a:prstDash val="solid"/>
          </a:ln>
        </p:spPr>
      </p:sp>
      <p:sp>
        <p:nvSpPr>
          <p:cNvPr id="144" name="Lbl 144"/>
          <p:cNvSpPr/>
          <p:nvPr/>
        </p:nvSpPr>
        <p:spPr>
          <a:xfrm>
            <a:off x="9214104" y="4626864"/>
            <a:ext cx="2215896" cy="36576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850" dirty="0"/>
          </a:p>
        </p:txBody>
      </p:sp>
      <p:sp>
        <p:nvSpPr>
          <p:cNvPr id="145" name="Ln 145"/>
          <p:cNvSpPr/>
          <p:nvPr/>
        </p:nvSpPr>
        <p:spPr>
          <a:xfrm flipH="1">
            <a:off x="5634228" y="4498848"/>
            <a:ext cx="576834" cy="128016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46" name="Ln 146"/>
          <p:cNvSpPr/>
          <p:nvPr/>
        </p:nvSpPr>
        <p:spPr>
          <a:xfrm flipH="1">
            <a:off x="5634228" y="4498848"/>
            <a:ext cx="4110990" cy="128016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47" name="Ln 147"/>
          <p:cNvSpPr/>
          <p:nvPr/>
        </p:nvSpPr>
        <p:spPr>
          <a:xfrm>
            <a:off x="6742176" y="4809744"/>
            <a:ext cx="128016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48" name="Ln 148"/>
          <p:cNvSpPr/>
          <p:nvPr/>
        </p:nvSpPr>
        <p:spPr>
          <a:xfrm>
            <a:off x="9086088" y="4809744"/>
            <a:ext cx="128016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49" name="Cap 149"/>
          <p:cNvSpPr/>
          <p:nvPr/>
        </p:nvSpPr>
        <p:spPr>
          <a:xfrm>
            <a:off x="4526280" y="5047488"/>
            <a:ext cx="6903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input_guards block/redirect skips classify and tools → observability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526280" y="537667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go through a company-tools MCP server (Keycloak OAuth). Incident lookups also forward the caller’s FastAPI JWT. Failures become explicit state — the graph never guesses.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THE AI SOLUTION — SAFETY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healthcare: the safety layer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474720" cy="1965960"/>
          </a:xfrm>
          <a:prstGeom prst="roundRect">
            <a:avLst>
              <a:gd name="adj" fmla="val 3256"/>
            </a:avLst>
          </a:prstGeom>
          <a:solidFill>
            <a:srgbClr val="E9F5F4"/>
          </a:solidFill>
          <a:ln/>
          <a:effectLst>
            <a:outerShdw sx="100000" sy="100000" kx="0" ky="0" algn="bl" rotWithShape="0" blurRad="76200" dist="25400" dir="5400000">
              <a:srgbClr val="9AB8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830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318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1328" y="1746504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/ output guardrails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2960" y="25146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 refusal, personal-use blocks, casual-chat redirects — checked on the way in and the way out.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51960" y="1508760"/>
            <a:ext cx="3474720" cy="1965960"/>
          </a:xfrm>
          <a:prstGeom prst="roundRect">
            <a:avLst>
              <a:gd name="adj" fmla="val 3256"/>
            </a:avLst>
          </a:prstGeom>
          <a:solidFill>
            <a:srgbClr val="F5FAFA"/>
          </a:solidFill>
          <a:ln/>
          <a:effectLst>
            <a:outerShdw sx="100000" sy="100000" kx="0" ky="0" algn="bl" rotWithShape="0" blurRad="76200" dist="25400" dir="5400000">
              <a:srgbClr val="9AB8B8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07992" y="178308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0638" y="192572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84648" y="1746504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 controls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26280" y="25146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/ UK-GDPR aware: patient-identifying content is refused, even inside memory proposals.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703320"/>
            <a:ext cx="3474720" cy="1965960"/>
          </a:xfrm>
          <a:prstGeom prst="roundRect">
            <a:avLst>
              <a:gd name="adj" fmla="val 3256"/>
            </a:avLst>
          </a:prstGeom>
          <a:solidFill>
            <a:srgbClr val="E9F5F4"/>
          </a:solidFill>
          <a:ln/>
          <a:effectLst>
            <a:outerShdw sx="100000" sy="100000" kx="0" ky="0" algn="bl" rotWithShape="0" blurRad="76200" dist="25400" dir="5400000">
              <a:srgbClr val="9AB8B8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97764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318" y="412028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81328" y="3941064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Untrusted content wrapping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22960" y="470916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chunks and MCP tool JSON are wrapped as quoted data — retrieved text can’t inject instructions.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251960" y="3703320"/>
            <a:ext cx="3474720" cy="1965960"/>
          </a:xfrm>
          <a:prstGeom prst="roundRect">
            <a:avLst>
              <a:gd name="adj" fmla="val 3256"/>
            </a:avLst>
          </a:prstGeom>
          <a:solidFill>
            <a:srgbClr val="F5FAFA"/>
          </a:solidFill>
          <a:ln/>
          <a:effectLst>
            <a:outerShdw sx="100000" sy="100000" kx="0" ky="0" algn="bl" rotWithShape="0" blurRad="76200" dist="25400" dir="5400000">
              <a:srgbClr val="9AB8B8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507992" y="3977640"/>
            <a:ext cx="548640" cy="548640"/>
          </a:xfrm>
          <a:prstGeom prst="ellipse">
            <a:avLst/>
          </a:prstGeom>
          <a:solidFill>
            <a:srgbClr val="5E7A8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0638" y="412028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184648" y="3941064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Consent-gated memory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4526280" y="470916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asks before remembering. Redis + Qdrant store, sliding TTLs, PHI screening, full audit trail.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8092440" y="150876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E9F5F4"/>
          </a:solidFill>
          <a:ln w="19050">
            <a:solidFill>
              <a:srgbClr val="028090"/>
            </a:solidFill>
            <a:prstDash val="dash"/>
          </a:ln>
        </p:spPr>
      </p:sp>
      <p:sp>
        <p:nvSpPr>
          <p:cNvPr id="25" name="Text 19"/>
          <p:cNvSpPr/>
          <p:nvPr/>
        </p:nvSpPr>
        <p:spPr>
          <a:xfrm>
            <a:off x="8321040" y="1508760"/>
            <a:ext cx="30632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 6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refusal — jailbreak or PHI attempt</a:t>
            </a:r>
            <a:endParaRPr lang="en-US" sz="150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screenshot — see SHOT_LIST.md</a:t>
            </a:r>
            <a:endParaRPr lang="en-US" sz="1500" dirty="0"/>
          </a:p>
        </p:txBody>
      </p:sp>
      <p:sp>
        <p:nvSpPr>
          <p:cNvPr id="26" name="Shape 20"/>
          <p:cNvSpPr/>
          <p:nvPr/>
        </p:nvSpPr>
        <p:spPr>
          <a:xfrm>
            <a:off x="8092440" y="4206240"/>
            <a:ext cx="3520440" cy="1463040"/>
          </a:xfrm>
          <a:prstGeom prst="roundRect">
            <a:avLst>
              <a:gd name="adj" fmla="val 4375"/>
            </a:avLst>
          </a:prstGeom>
          <a:solidFill>
            <a:srgbClr val="F5FAFA"/>
          </a:solidFill>
          <a:ln/>
          <a:effectLst>
            <a:outerShdw sx="100000" sy="100000" kx="0" ky="0" algn="bl" rotWithShape="0" blurRad="76200" dist="25400" dir="5400000">
              <a:srgbClr val="9AB8B8">
                <a:alpha val="35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8321040" y="43891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by design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MCP server (Keycloak OAuth) can write incidents — the agent deliberately gets lookup-only tools.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THE AI SOLUTION — STACK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technologies, tools &amp; concepts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11880" cy="3200400"/>
          </a:xfrm>
          <a:prstGeom prst="roundRect">
            <a:avLst>
              <a:gd name="adj" fmla="val 2000"/>
            </a:avLst>
          </a:prstGeom>
          <a:solidFill>
            <a:srgbClr val="E9F5F4"/>
          </a:solidFill>
          <a:ln/>
          <a:effectLst>
            <a:outerShdw sx="100000" sy="100000" kx="0" ky="0" algn="bl" rotWithShape="0" blurRad="76200" dist="25400" dir="5400000">
              <a:srgbClr val="9AB8B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459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&amp; Agents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3108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(compiled graph)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— semantic chunking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vector store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 proxy (embed + generate)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+ Keycloak OAuth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tracing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Consent-gated agent memory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70832" y="1463040"/>
            <a:ext cx="3611880" cy="3200400"/>
          </a:xfrm>
          <a:prstGeom prst="roundRect">
            <a:avLst>
              <a:gd name="adj" fmla="val 2000"/>
            </a:avLst>
          </a:prstGeom>
          <a:solidFill>
            <a:srgbClr val="F5FAFA"/>
          </a:solidFill>
          <a:ln/>
          <a:effectLst>
            <a:outerShdw sx="100000" sy="100000" kx="0" ky="0" algn="bl" rotWithShape="0" blurRad="76200" dist="25400" dir="5400000">
              <a:srgbClr val="9AB8B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45152" y="16459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645152" y="2194560"/>
            <a:ext cx="3108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Pydantic v2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end-to-end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+ TypeScript UI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· Celery workers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Prefect ETL → KPI dashboard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stack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93024" y="1463040"/>
            <a:ext cx="3611880" cy="3200400"/>
          </a:xfrm>
          <a:prstGeom prst="roundRect">
            <a:avLst>
              <a:gd name="adj" fmla="val 2000"/>
            </a:avLst>
          </a:prstGeom>
          <a:solidFill>
            <a:srgbClr val="F5FAFA"/>
          </a:solidFill>
          <a:ln/>
          <a:effectLst>
            <a:outerShdw sx="100000" sy="100000" kx="0" ky="0" algn="bl" rotWithShape="0" blurRad="76200" dist="25400" dir="5400000">
              <a:srgbClr val="9AB8B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67344" y="16459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467344" y="2194560"/>
            <a:ext cx="3108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suite (test-queries + agent evals)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injection tests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+ Jest coverage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Thumbs feedback → JSONL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Seeded, reproducible demos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Spec-first memory-bank plans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937760"/>
            <a:ext cx="11064240" cy="1097280"/>
          </a:xfrm>
          <a:prstGeom prst="roundRect">
            <a:avLst>
              <a:gd name="adj" fmla="val 5833"/>
            </a:avLst>
          </a:prstGeom>
          <a:solidFill>
            <a:srgbClr val="E9F5F4"/>
          </a:solidFill>
          <a:ln/>
          <a:effectLst>
            <a:outerShdw sx="100000" sy="100000" kx="0" ky="0" algn="bl" rotWithShape="0" blurRad="76200" dist="25400" dir="5400000">
              <a:srgbClr val="9AB8B8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51663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5309006"/>
            <a:ext cx="263347" cy="263347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600200" y="516636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to run all of it: </a:t>
            </a:r>
            <a:pPr indent="0" marL="0">
              <a:buNone/>
            </a:pPr>
            <a:r>
              <a:rPr lang="en-US" sz="12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</a:t>
            </a:r>
            <a:pPr indent="0" marL="0">
              <a:buNone/>
            </a:pPr>
            <a:r>
              <a:rPr lang="en-US" sz="130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brings up the API, both UIs, Redis, the Celery worker and Flower — with seed commands for inventory, incidents, reporting and the knowledge base.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ENGINEERING DECISIONS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Hardest problem: an honest agent under failure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11880" cy="2377440"/>
          </a:xfrm>
          <a:prstGeom prst="roundRect">
            <a:avLst>
              <a:gd name="adj" fmla="val 2692"/>
            </a:avLst>
          </a:prstGeom>
          <a:solidFill>
            <a:srgbClr val="E9F5F4"/>
          </a:solidFill>
          <a:ln/>
          <a:effectLst>
            <a:outerShdw sx="100000" sy="100000" kx="0" ky="0" algn="bl" rotWithShape="0" blurRad="76200" dist="25400" dir="5400000">
              <a:srgbClr val="9AB8B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64208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417320" y="166420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tools time out, 500, or return nothing. An LLM’s instinct is to paper over the gap with a plausible guess — unacceptable in healthcare ops.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78808" y="2697480"/>
            <a:ext cx="329184" cy="0"/>
          </a:xfrm>
          <a:prstGeom prst="line">
            <a:avLst/>
          </a:prstGeom>
          <a:noFill/>
          <a:ln w="22225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26280" y="1508760"/>
            <a:ext cx="3611880" cy="2377440"/>
          </a:xfrm>
          <a:prstGeom prst="roundRect">
            <a:avLst>
              <a:gd name="adj" fmla="val 2692"/>
            </a:avLst>
          </a:prstGeom>
          <a:solidFill>
            <a:srgbClr val="F5FAFA"/>
          </a:solidFill>
          <a:ln/>
          <a:effectLst>
            <a:outerShdw sx="100000" sy="100000" kx="0" ky="0" algn="bl" rotWithShape="0" blurRad="76200" dist="25400" dir="5400000">
              <a:srgbClr val="9AB8B8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82312" y="1664208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394960" y="166420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prompts aren’t enough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00600" y="237744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“Don’t make things up” is a suggestion. Under partial failure, suggestions lose to fluency.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56448" y="2697480"/>
            <a:ext cx="329184" cy="0"/>
          </a:xfrm>
          <a:prstGeom prst="line">
            <a:avLst/>
          </a:prstGeom>
          <a:noFill/>
          <a:ln w="22225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503920" y="1508760"/>
            <a:ext cx="3611880" cy="2377440"/>
          </a:xfrm>
          <a:prstGeom prst="roundRect">
            <a:avLst>
              <a:gd name="adj" fmla="val 2692"/>
            </a:avLst>
          </a:prstGeom>
          <a:solidFill>
            <a:srgbClr val="05343B"/>
          </a:solidFill>
          <a:ln/>
          <a:effectLst>
            <a:outerShdw sx="100000" sy="100000" kx="0" ky="0" algn="bl" rotWithShape="0" blurRad="76200" dist="25400" dir="5400000">
              <a:srgbClr val="9AB8B8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759952" y="1664208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372600" y="166420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fix: structure, not vibes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778240" y="237744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D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httpx tool clients — timeouts, retry-once, and they never raise into the graph. Failure becomes explicit state the compose step must handle with verbatim fallback text.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297680"/>
            <a:ext cx="11064240" cy="1691640"/>
          </a:xfrm>
          <a:prstGeom prst="roundRect">
            <a:avLst>
              <a:gd name="adj" fmla="val 3784"/>
            </a:avLst>
          </a:prstGeom>
          <a:solidFill>
            <a:srgbClr val="E9F5F4"/>
          </a:solidFill>
          <a:ln/>
          <a:effectLst>
            <a:outerShdw sx="100000" sy="100000" kx="0" ky="0" algn="bl" rotWithShape="0" blurRad="76200" dist="25400" dir="5400000">
              <a:srgbClr val="9AB8B8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4400" y="4297680"/>
            <a:ext cx="10332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900"/>
              </a:spcAft>
              <a:buNone/>
            </a:pPr>
            <a:r>
              <a:rPr lang="en-US" sz="2100" b="1" i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could not confirm the ticket’s status.”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verbatim fallback the graph is required to return when a tool fails — honesty enforced by architecture, verified by the eval suite.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ENGINEERING DECISIONS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trade-off, and what I’m proud of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3429000"/>
          </a:xfrm>
          <a:prstGeom prst="roundRect">
            <a:avLst>
              <a:gd name="adj" fmla="val 1867"/>
            </a:avLst>
          </a:prstGeom>
          <a:solidFill>
            <a:srgbClr val="E9F5F4"/>
          </a:solidFill>
          <a:ln/>
          <a:effectLst>
            <a:outerShdw sx="100000" sy="100000" kx="0" ky="0" algn="bl" rotWithShape="0" blurRad="76200" dist="25400" dir="5400000">
              <a:srgbClr val="9AB8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8308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0361" y="193048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2768" y="1764792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Trade-off: read-only tools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377440"/>
            <a:ext cx="48006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MCP layer supports creating and updating incidents. The agent gets lookup-only tools anyway.</a:t>
            </a:r>
            <a:endParaRPr lang="en-US" sz="13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hallucinated read is an inconvenience. A hallucinated write is an incident.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traded capability for blast-radius: in healthcare operations, trust is the feature that unlocks adoption — you can add writes later, but you can’t un-lose trust.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17920" y="1508760"/>
            <a:ext cx="5440680" cy="3429000"/>
          </a:xfrm>
          <a:prstGeom prst="roundRect">
            <a:avLst>
              <a:gd name="adj" fmla="val 1867"/>
            </a:avLst>
          </a:prstGeom>
          <a:solidFill>
            <a:srgbClr val="F5FAFA"/>
          </a:solidFill>
          <a:ln/>
          <a:effectLst>
            <a:outerShdw sx="100000" sy="100000" kx="0" ky="0" algn="bl" rotWithShape="0" blurRad="76200" dist="25400" dir="5400000">
              <a:srgbClr val="9AB8B8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178308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9641" y="193048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42048" y="1764792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proud of: the discipline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37960" y="2377440"/>
            <a:ext cx="48006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Spec-first plans in a memory-bank before code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 and injection tests shipped with the agent, not after it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over rewrite: the agent shares the RAG pipeline’s functions; the /knowledge API was unchanged when /agent shipped</a:t>
            </a:r>
            <a:endParaRPr lang="en-US" sz="130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One-command Docker bring-up with seeded demo data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agent is the demo — the engineering culture around it is the product.”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5257800"/>
            <a:ext cx="11109960" cy="960120"/>
          </a:xfrm>
          <a:prstGeom prst="roundRect">
            <a:avLst>
              <a:gd name="adj" fmla="val 6667"/>
            </a:avLst>
          </a:prstGeom>
          <a:solidFill>
            <a:srgbClr val="05343B"/>
          </a:solidFill>
          <a:ln/>
          <a:effectLst>
            <a:outerShdw sx="100000" sy="100000" kx="0" ky="0" algn="bl" rotWithShape="0" blurRad="76200" dist="25400" dir="5400000">
              <a:srgbClr val="9AB8B8">
                <a:alpha val="35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914400" y="550468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D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decisions come from one instinct: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healthcare, the trustworthy version of a feature is the only shippable one.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MY JOURNEY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AI engineering — and when it clicked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4343400"/>
          </a:xfrm>
          <a:prstGeom prst="roundRect">
            <a:avLst>
              <a:gd name="adj" fmla="val 1474"/>
            </a:avLst>
          </a:prstGeom>
          <a:solidFill>
            <a:srgbClr val="E9F5F4"/>
          </a:solidFill>
          <a:ln/>
          <a:effectLst>
            <a:outerShdw sx="100000" sy="100000" kx="0" ky="0" algn="bl" rotWithShape="0" blurRad="76200" dist="25400" dir="5400000">
              <a:srgbClr val="9AB8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8308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0361" y="193048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2768" y="1764792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 chose this path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42316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pull: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i="1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What drew you — a problem you kept seeing, wanting to build rather than just use AI ]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almost held me back: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i="1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The honest fear — career-switch risk, imposter syndrome, “not a math person” ]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got me over the line: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The moment, person, or realization ]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1508760"/>
            <a:ext cx="5440680" cy="4343400"/>
          </a:xfrm>
          <a:prstGeom prst="roundRect">
            <a:avLst>
              <a:gd name="adj" fmla="val 1474"/>
            </a:avLst>
          </a:prstGeom>
          <a:solidFill>
            <a:srgbClr val="F5FAFA"/>
          </a:solidFill>
          <a:ln/>
          <a:effectLst>
            <a:outerShdw sx="100000" sy="100000" kx="0" ky="0" algn="bl" rotWithShape="0" blurRad="76200" dist="25400" dir="5400000">
              <a:srgbClr val="9AB8B8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178308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9641" y="193048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42048" y="1764792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moment it clicked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37960" y="242316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i="1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Pick ONE real moment. Candidates from this project: ]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fan-out answer — one question hitting RAG and a live tool in parallel: “agent” stopped being a buzzword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Watching it say “I don’t have information about that” — refusing well is harder than answering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— an instructor or cohort-mate who reframed things (name them)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arc: a static HTML form in Milestone 1 becoming a platform with an agent on top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MY JOURNEY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anyone on the fence about 4Geeks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" y="175656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50876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C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came in [ your starting point ] …</a:t>
            </a:r>
            <a:endParaRPr lang="en-US" sz="13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…and left having built a bilingual, production-style healthcare platform with a guarded RAG agent on top.”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3703320"/>
            <a:ext cx="3611880" cy="2057400"/>
          </a:xfrm>
          <a:prstGeom prst="roundRect">
            <a:avLst>
              <a:gd name="adj" fmla="val 3111"/>
            </a:avLst>
          </a:prstGeom>
          <a:solidFill>
            <a:srgbClr val="E9F5F4"/>
          </a:solidFill>
          <a:ln/>
          <a:effectLst>
            <a:outerShdw sx="100000" sy="100000" kx="0" ky="0" algn="bl" rotWithShape="0" blurRad="76200" dist="25400" dir="5400000">
              <a:srgbClr val="9AB8B8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38862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made the difference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438912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The structure? Milestone-based building on one evolving company? Mentors? Building real things instead of toy notebooks? ]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70832" y="3703320"/>
            <a:ext cx="3611880" cy="2057400"/>
          </a:xfrm>
          <a:prstGeom prst="roundRect">
            <a:avLst>
              <a:gd name="adj" fmla="val 3111"/>
            </a:avLst>
          </a:prstGeom>
          <a:solidFill>
            <a:srgbClr val="F5FAFA"/>
          </a:solidFill>
          <a:ln/>
          <a:effectLst>
            <a:outerShdw sx="100000" sy="100000" kx="0" ky="0" algn="bl" rotWithShape="0" blurRad="76200" dist="25400" dir="5400000">
              <a:srgbClr val="9AB8B8">
                <a:alpha val="3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645152" y="38862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one piece of advice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4645152" y="438912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e.g., “Treat every milestone like production code — the compounding is the point.” ]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193024" y="3703320"/>
            <a:ext cx="3611880" cy="2057400"/>
          </a:xfrm>
          <a:prstGeom prst="roundRect">
            <a:avLst>
              <a:gd name="adj" fmla="val 3111"/>
            </a:avLst>
          </a:prstGeom>
          <a:solidFill>
            <a:srgbClr val="E9F5F4"/>
          </a:solidFill>
          <a:ln/>
          <a:effectLst>
            <a:outerShdw sx="100000" sy="100000" kx="0" ky="0" algn="bl" rotWithShape="0" blurRad="76200" dist="25400" dir="5400000">
              <a:srgbClr val="9AB8B8">
                <a:alpha val="3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467344" y="38862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on the screen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8467344" y="438912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at the demo: this is what the program produces when you take it seriously.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3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206240" cy="420624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480560"/>
            <a:ext cx="3291840" cy="3291840"/>
          </a:xfrm>
          <a:prstGeom prst="ellipse">
            <a:avLst/>
          </a:prstGeom>
          <a:solidFill>
            <a:srgbClr val="02C39A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3375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answers. Live tools. Honest fallbacks. Safe by design.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61772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Chitra Sharath Chandra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F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chitrasharathchandra001@gmail.com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8F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chitrasharath_healthcore_ft_ai_1  ·  4Geeks Academy — AI Engineering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2026-08-13T20:21:24Z</dcterms:created>
  <dcterms:modified xsi:type="dcterms:W3CDTF">2026-08-13T20:21:24Z</dcterms:modified>
</cp:coreProperties>
</file>